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85252ea9c24aaf" /><Relationship Type="http://schemas.openxmlformats.org/officeDocument/2006/relationships/extended-properties" Target="/docProps/app.xml" Id="Ra24e2b005d764477" /><Relationship Type="http://schemas.openxmlformats.org/officeDocument/2006/relationships/officeDocument" Target="/ppt/presentation.xml" Id="R86a735542dfe47dc" /></Relationships>
</file>

<file path=ppt/presentation.xml><?xml version="1.0" encoding="utf-8"?>
<p:presentation xmlns:p="http://schemas.openxmlformats.org/presentationml/2006/main">
  <p:sldMasterIdLst>
    <p:sldMasterId xmlns:r="http://schemas.openxmlformats.org/officeDocument/2006/relationships" id="2147483648" r:id="Rd0db9efaab184863"/>
  </p:sldMasterIdLst>
  <p:notesMasterIdLst>
    <p:notesMasterId xmlns:r="http://schemas.openxmlformats.org/officeDocument/2006/relationships" r:id="R50574124e03d4d65"/>
  </p:notesMasterIdLst>
  <p:sldIdLst>
    <p:sldId xmlns:r="http://schemas.openxmlformats.org/officeDocument/2006/relationships" id="256" r:id="R76d1e5c0c7974331"/>
    <p:sldId xmlns:r="http://schemas.openxmlformats.org/officeDocument/2006/relationships" id="257" r:id="Rc708c59741df40de"/>
    <p:sldId xmlns:r="http://schemas.openxmlformats.org/officeDocument/2006/relationships" id="258" r:id="R1a4117a1f3884fdd"/>
    <p:sldId xmlns:r="http://schemas.openxmlformats.org/officeDocument/2006/relationships" id="259" r:id="R7777f756894e4c44"/>
    <p:sldId xmlns:r="http://schemas.openxmlformats.org/officeDocument/2006/relationships" id="260" r:id="R37f2f9c376ef420a"/>
    <p:sldId xmlns:r="http://schemas.openxmlformats.org/officeDocument/2006/relationships" id="261" r:id="Rebacd24ff0e7499a"/>
    <p:sldId xmlns:r="http://schemas.openxmlformats.org/officeDocument/2006/relationships" id="262" r:id="R0f626dfd22e44908"/>
    <p:sldId xmlns:r="http://schemas.openxmlformats.org/officeDocument/2006/relationships" id="263" r:id="R453747a6f0e3412f"/>
    <p:sldId xmlns:r="http://schemas.openxmlformats.org/officeDocument/2006/relationships" id="264" r:id="R1e60fffa26254430"/>
    <p:sldId xmlns:r="http://schemas.openxmlformats.org/officeDocument/2006/relationships" id="265" r:id="R71b412e3b41246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552132de8a4f93" /><Relationship Type="http://schemas.openxmlformats.org/officeDocument/2006/relationships/slideMaster" Target="/ppt/slideMasters/slideMaster1.xml" Id="Rd0db9efaab184863" /><Relationship Type="http://schemas.openxmlformats.org/officeDocument/2006/relationships/notesMaster" Target="/ppt/notesMasters/notesMaster1.xml" Id="R50574124e03d4d65" /><Relationship Type="http://schemas.openxmlformats.org/officeDocument/2006/relationships/presProps" Target="/ppt/presProps.xml" Id="Rf25de70f88b24ab9" /><Relationship Type="http://schemas.openxmlformats.org/officeDocument/2006/relationships/tableStyles" Target="/ppt/tableStyles.xml" Id="Rae38b241b996447f" /><Relationship Type="http://schemas.openxmlformats.org/officeDocument/2006/relationships/slide" Target="/ppt/slides/slide1.xml" Id="R76d1e5c0c7974331" /><Relationship Type="http://schemas.openxmlformats.org/officeDocument/2006/relationships/slide" Target="/ppt/slides/slide2.xml" Id="Rc708c59741df40de" /><Relationship Type="http://schemas.openxmlformats.org/officeDocument/2006/relationships/slide" Target="/ppt/slides/slide3.xml" Id="R1a4117a1f3884fdd" /><Relationship Type="http://schemas.openxmlformats.org/officeDocument/2006/relationships/slide" Target="/ppt/slides/slide4.xml" Id="R7777f756894e4c44" /><Relationship Type="http://schemas.openxmlformats.org/officeDocument/2006/relationships/slide" Target="/ppt/slides/slide5.xml" Id="R37f2f9c376ef420a" /><Relationship Type="http://schemas.openxmlformats.org/officeDocument/2006/relationships/slide" Target="/ppt/slides/slide6.xml" Id="Rebacd24ff0e7499a" /><Relationship Type="http://schemas.openxmlformats.org/officeDocument/2006/relationships/slide" Target="/ppt/slides/slide7.xml" Id="R0f626dfd22e44908" /><Relationship Type="http://schemas.openxmlformats.org/officeDocument/2006/relationships/slide" Target="/ppt/slides/slide8.xml" Id="R453747a6f0e3412f" /><Relationship Type="http://schemas.openxmlformats.org/officeDocument/2006/relationships/slide" Target="/ppt/slides/slide9.xml" Id="R1e60fffa26254430" /><Relationship Type="http://schemas.openxmlformats.org/officeDocument/2006/relationships/slide" Target="/ppt/slides/slide10.xml" Id="R71b412e3b41246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f54254f5404c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b98756ade740ec" /><Relationship Type="http://schemas.openxmlformats.org/officeDocument/2006/relationships/notesMaster" Target="/ppt/notesMasters/notesMaster1.xml" Id="Re96d65420a854c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395a1fa27147a0" /><Relationship Type="http://schemas.openxmlformats.org/officeDocument/2006/relationships/notesMaster" Target="/ppt/notesMasters/notesMaster1.xml" Id="R09838c8b8ac34d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cb41b8675146b5" /><Relationship Type="http://schemas.openxmlformats.org/officeDocument/2006/relationships/notesMaster" Target="/ppt/notesMasters/notesMaster1.xml" Id="Reac06e8bbd3245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40e4295ed44b98" /><Relationship Type="http://schemas.openxmlformats.org/officeDocument/2006/relationships/notesMaster" Target="/ppt/notesMasters/notesMaster1.xml" Id="R9bc2c32533254b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dac358903747b5" /><Relationship Type="http://schemas.openxmlformats.org/officeDocument/2006/relationships/notesMaster" Target="/ppt/notesMasters/notesMaster1.xml" Id="Ra33053a9cb6b42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2c4567593b448c" /><Relationship Type="http://schemas.openxmlformats.org/officeDocument/2006/relationships/notesMaster" Target="/ppt/notesMasters/notesMaster1.xml" Id="R193ee60ca7ef41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63ea11290e4ffe" /><Relationship Type="http://schemas.openxmlformats.org/officeDocument/2006/relationships/notesMaster" Target="/ppt/notesMasters/notesMaster1.xml" Id="R4bdf47b4af36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2acd5f8a8645b9" /><Relationship Type="http://schemas.openxmlformats.org/officeDocument/2006/relationships/notesMaster" Target="/ppt/notesMasters/notesMaster1.xml" Id="Rb68ce2f1f49641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461253d6f74d61" /><Relationship Type="http://schemas.openxmlformats.org/officeDocument/2006/relationships/notesMaster" Target="/ppt/notesMasters/notesMaster1.xml" Id="R87d9df32374c46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1d92b92a7846ac" /><Relationship Type="http://schemas.openxmlformats.org/officeDocument/2006/relationships/notesMaster" Target="/ppt/notesMasters/notesMaster1.xml" Id="R228e7c3989464e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Introduce the real problem: unpredictable arrivals and lengths of stay create congestion. Explain that each number in the talk is either an observed dataset summary or a conditional model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1:00–2:30. Name the four sources and explain that they represent different institutions. We use them for different parts of the analysis; we do not treat them as one hospital. The CMS very-high-volume tier is an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2:30–4:00. Explain the mathematical workflow: estimate inputs, formulate a stochastic process, calculate a theoretical result, simulate, then compare with observed benchmarks. Distinguish loss from waiting 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4:00–5:15. CV squared equals variance divided by mean squared. The processed SPARCS estimate is 1.991. Weibull ranks best by AIC in the eICU fit, but the KS screen rejects an exact fit. Avoid claiming the distribution is clinically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5:15–6:30. The hourly shape is from eICU, and the daily volume comes from a CMS hospital tier. These are not matched hospital records. Explain that a non-homogeneous Poisson process changes its rate by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6:30–8:30. Show the difference between a waiting system and a loss system. For the loss scenario, the first integer capacity meeting 1% is 170 beds, not 169. Walk through the interpretation of offered load and utilization.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8:30–10:00. ED patients routed to ICU keep an ED bay until an ICU bed becomes available. The simulation now holds the ICU bed for the complete ICU stay. Its boarding mean is conditional on boarding. Do not call the eICU admission offset directly observed ED 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10:00–11:30. Software tests pass, but external empirical validation fails. The theoretical ED calibration matches its target by construction and is not independent validation. Explain the need for a single-facility dataset with matched timestamps.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11:30–13:00. These are conditional model results, not observed patient benefits. The allocation weights are policy inputs. Specialty beds and staff may not be interchangeable. PSA ignores queue carryover between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13:00–15:00. Demonstrate the app briefly. Contributions: Manas handled the macro SPARCS/MIMIC and queue models; Yashasvee handled eICU/CMS and ED/ICU simulation; both integrated and reviewed the project. Close with the strongest limitation: cross-source calibration and failed external validation. Leave time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2e74339ed448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4a6eb46db346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7b9b7a26244b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a74e94dfbb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d9b0a778b245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c8432554c542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6E1963-5CBB-4C7E-A0AB-EDC6B6BA23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73AFEC-9F74-4442-87E8-04860A93DD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FB7068-F3D0-4FC8-A8D8-CFBDC11FE4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C9D6A8-DAFE-4DE8-B5E6-8774ACF5BE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3D1313-743F-4DA8-A855-1108883E1E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CEAB56-5327-4011-AA3F-AC94285DE7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B30F3A-5AD4-44B2-B4C9-0AFB412D7D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0613C9-7070-4BCF-8D38-38CE4E1A36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B5B7B3-808A-4F4E-96AA-356F468F8E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9066F2-227B-4250-B14A-0E290C2DCE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df80b6450d4c31" /><Relationship Type="http://schemas.openxmlformats.org/officeDocument/2006/relationships/slideLayout" Target="/ppt/slideLayouts/slideLayout1.xml" Id="R877776ab23b34990" /><Relationship Type="http://schemas.openxmlformats.org/officeDocument/2006/relationships/slideLayout" Target="/ppt/slideLayouts/slideLayout2.xml" Id="R359598a7d19949b2" /><Relationship Type="http://schemas.openxmlformats.org/officeDocument/2006/relationships/slideLayout" Target="/ppt/slideLayouts/slideLayout3.xml" Id="R25263fbc8e774177" /><Relationship Type="http://schemas.openxmlformats.org/officeDocument/2006/relationships/slideLayout" Target="/ppt/slideLayouts/slideLayout4.xml" Id="R80a676d69da944c3" /><Relationship Type="http://schemas.openxmlformats.org/officeDocument/2006/relationships/slideLayout" Target="/ppt/slideLayouts/slideLayout5.xml" Id="R0308c59177254cf9" /><Relationship Type="http://schemas.openxmlformats.org/officeDocument/2006/relationships/slideLayout" Target="/ppt/slideLayouts/slideLayout6.xml" Id="R27e146bf781941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7776ab23b34990"/>
    <p:sldLayoutId xmlns:r="http://schemas.openxmlformats.org/officeDocument/2006/relationships" id="2147483650" r:id="R359598a7d19949b2"/>
    <p:sldLayoutId xmlns:r="http://schemas.openxmlformats.org/officeDocument/2006/relationships" id="2147483651" r:id="R25263fbc8e774177"/>
    <p:sldLayoutId xmlns:r="http://schemas.openxmlformats.org/officeDocument/2006/relationships" id="2147483652" r:id="R80a676d69da944c3"/>
    <p:sldLayoutId xmlns:r="http://schemas.openxmlformats.org/officeDocument/2006/relationships" id="2147483653" r:id="R0308c59177254cf9"/>
    <p:sldLayoutId xmlns:r="http://schemas.openxmlformats.org/officeDocument/2006/relationships" id="2147483654" r:id="R27e146bf781941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2a28a909454c4c" /><Relationship Type="http://schemas.openxmlformats.org/officeDocument/2006/relationships/notesSlide" Target="/ppt/notesSlides/notesSlide1.xml" Id="R7d790700d36d47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64ea20f8184c28" /><Relationship Type="http://schemas.openxmlformats.org/officeDocument/2006/relationships/notesSlide" Target="/ppt/notesSlides/notesSlide2.xml" Id="R12c9e1de3ec341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13580c082f4382" /><Relationship Type="http://schemas.openxmlformats.org/officeDocument/2006/relationships/notesSlide" Target="/ppt/notesSlides/notesSlide3.xml" Id="R4263edeb0cba4d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b2c7f6395c427d" /><Relationship Type="http://schemas.openxmlformats.org/officeDocument/2006/relationships/image" Target="/ppt/media/image.png" Id="Rf958992615384ad0" /><Relationship Type="http://schemas.openxmlformats.org/officeDocument/2006/relationships/notesSlide" Target="/ppt/notesSlides/notesSlide4.xml" Id="R50d44f3f6c3644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b4c091bc6d4edb" /><Relationship Type="http://schemas.openxmlformats.org/officeDocument/2006/relationships/image" Target="/ppt/media/image2.png" Id="R7679911b39884965" /><Relationship Type="http://schemas.openxmlformats.org/officeDocument/2006/relationships/notesSlide" Target="/ppt/notesSlides/notesSlide5.xml" Id="R3d9cafda7c0948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6e653c41044575" /><Relationship Type="http://schemas.openxmlformats.org/officeDocument/2006/relationships/notesSlide" Target="/ppt/notesSlides/notesSlide6.xml" Id="R8cb87ef132d845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a0b1526444669" /><Relationship Type="http://schemas.openxmlformats.org/officeDocument/2006/relationships/image" Target="/ppt/media/image3.png" Id="R61b14587fa424f03" /><Relationship Type="http://schemas.openxmlformats.org/officeDocument/2006/relationships/notesSlide" Target="/ppt/notesSlides/notesSlide7.xml" Id="R8eb6f12678714e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771b36e5c34f4f" /><Relationship Type="http://schemas.openxmlformats.org/officeDocument/2006/relationships/notesSlide" Target="/ppt/notesSlides/notesSlide8.xml" Id="Rcd2223a184ab43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4f70ae650849a6" /><Relationship Type="http://schemas.openxmlformats.org/officeDocument/2006/relationships/image" Target="/ppt/media/image4.png" Id="Recf9c610251945c2" /><Relationship Type="http://schemas.openxmlformats.org/officeDocument/2006/relationships/notesSlide" Target="/ppt/notesSlides/notesSlide9.xml" Id="R08d175b8d81747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d1e463836541c3" /><Relationship Type="http://schemas.openxmlformats.org/officeDocument/2006/relationships/notesSlide" Target="/ppt/notesSlides/notesSlide10.xml" Id="R4e3547dede6f4004" /></Relationships>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B4D48C-905F-4895-8243-830F375FBE20}"/>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GROUP PROJECT  |  MANAS AND YASHASVEE</a:t>
            </a:r>
          </a:p>
        </p:txBody>
      </p:sp>
      <p:sp>
        <p:nvSpPr>
          <p:cNvPr id="2" name="">
            <a:extLst xmlns:a="http://schemas.openxmlformats.org/drawingml/2006/main">
              <a:ext uri="{FF2B5EF4-FFF2-40B4-BE49-F238E27FC236}">
                <a16:creationId xmlns:a16="http://schemas.microsoft.com/office/drawing/2014/main" id="{037A65E3-F7C4-44D3-A8A0-4ADFBCB5E002}"/>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Hospital patient flow and bed capacity</a:t>
            </a:r>
          </a:p>
        </p:txBody>
      </p:sp>
      <p:sp>
        <p:nvSpPr>
          <p:cNvPr id="3" name="">
            <a:extLst xmlns:a="http://schemas.openxmlformats.org/drawingml/2006/main">
              <a:ext uri="{FF2B5EF4-FFF2-40B4-BE49-F238E27FC236}">
                <a16:creationId xmlns:a16="http://schemas.microsoft.com/office/drawing/2014/main" id="{D659D28D-7EA9-4C5F-B0A8-971F122C61ED}"/>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1 / 10</a:t>
            </a:r>
          </a:p>
        </p:txBody>
      </p:sp>
      <p:sp>
        <p:nvSpPr>
          <p:cNvPr id="4" name="">
            <a:extLst xmlns:a="http://schemas.openxmlformats.org/drawingml/2006/main">
              <a:ext uri="{FF2B5EF4-FFF2-40B4-BE49-F238E27FC236}">
                <a16:creationId xmlns:a16="http://schemas.microsoft.com/office/drawing/2014/main" id="{F586AA91-3514-4295-A581-42547A3CDB35}"/>
              </a:ext>
            </a:extLst>
          </p:cNvPr>
          <p:cNvSpPr>
            <a:spLocks xmlns:a="http://schemas.openxmlformats.org/drawingml/2006/main" noGrp="1"/>
          </p:cNvSpPr>
          <p:nvPr/>
        </p:nvSpPr>
        <p:spPr>
          <a:xfrm xmlns:a="http://schemas.openxmlformats.org/drawingml/2006/main">
            <a:off x="685800" y="2095500"/>
            <a:ext cx="1000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Real hospital data, queueing models, simulation, and validation</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13 questions across patient stays, arrivals, beds, transfers, and waiting</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15-minute presentation</a:t>
            </a:r>
          </a:p>
        </p:txBody>
      </p:sp>
    </p:spTree>
    <p:extLst>
      <p:ext uri="{BB962C8B-B14F-4D97-AF65-F5344CB8AC3E}">
        <p14:creationId xmlns:p14="http://schemas.microsoft.com/office/powerpoint/2010/main" val="2121100289"/>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8C163A-4260-4648-B9ED-6ADFC446EAB1}"/>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CBF3AF9B-77A3-4A0A-8DD8-045C81BBE4E9}"/>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Problem and data</a:t>
            </a:r>
          </a:p>
        </p:txBody>
      </p:sp>
      <p:sp>
        <p:nvSpPr>
          <p:cNvPr id="3" name="">
            <a:extLst xmlns:a="http://schemas.openxmlformats.org/drawingml/2006/main">
              <a:ext uri="{FF2B5EF4-FFF2-40B4-BE49-F238E27FC236}">
                <a16:creationId xmlns:a16="http://schemas.microsoft.com/office/drawing/2014/main" id="{86456812-0D0C-47BA-B3E2-7B4A191B3CC4}"/>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2 / 10</a:t>
            </a:r>
          </a:p>
        </p:txBody>
      </p:sp>
      <p:sp>
        <p:nvSpPr>
          <p:cNvPr id="4" name="">
            <a:extLst xmlns:a="http://schemas.openxmlformats.org/drawingml/2006/main">
              <a:ext uri="{FF2B5EF4-FFF2-40B4-BE49-F238E27FC236}">
                <a16:creationId xmlns:a16="http://schemas.microsoft.com/office/drawing/2014/main" id="{A546D8AC-C2CC-4C80-B84E-FA3BEDD92E4B}"/>
              </a:ext>
            </a:extLst>
          </p:cNvPr>
          <p:cNvSpPr>
            <a:spLocks xmlns:a="http://schemas.openxmlformats.org/drawingml/2006/main" noGrp="1"/>
          </p:cNvSpPr>
          <p:nvPr/>
        </p:nvSpPr>
        <p:spPr>
          <a:xfrm xmlns:a="http://schemas.openxmlformats.org/drawingml/2006/main">
            <a:off x="685800" y="1952625"/>
            <a:ext cx="5429250" cy="3762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SPARCS: 250,000 inpatient discharges</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eICU demo: 2,520 ICU stays</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MIMIC-IV: local ICU and transfer extracts</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CMS: emergency department benchmark measures</a:t>
            </a:r>
          </a:p>
        </p:txBody>
      </p:sp>
      <p:sp>
        <p:nvSpPr>
          <p:cNvPr id="5" name="">
            <a:extLst xmlns:a="http://schemas.openxmlformats.org/drawingml/2006/main">
              <a:ext uri="{FF2B5EF4-FFF2-40B4-BE49-F238E27FC236}">
                <a16:creationId xmlns:a16="http://schemas.microsoft.com/office/drawing/2014/main" id="{25761AE4-7A94-4054-AF5C-608EE60AE677}"/>
              </a:ext>
            </a:extLst>
          </p:cNvPr>
          <p:cNvSpPr>
            <a:spLocks xmlns:a="http://schemas.openxmlformats.org/drawingml/2006/main" noGrp="1"/>
          </p:cNvSpPr>
          <p:nvPr/>
        </p:nvSpPr>
        <p:spPr>
          <a:xfrm xmlns:a="http://schemas.openxmlformats.org/drawingml/2006/main">
            <a:off x="6381750" y="2333625"/>
            <a:ext cx="4476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7324F"/>
                </a:solidFill>
                <a:latin typeface="Arial"/>
                <a:ea typeface="Arial"/>
                <a:cs typeface="Arial"/>
              </a:defRPr>
            </a:defPPr>
            <a:lvl1pPr>
              <a:defRPr sz="2250" b="1">
                <a:solidFill>
                  <a:srgbClr val="17324F"/>
                </a:solidFill>
                <a:latin typeface="Arial"/>
                <a:ea typeface="Arial"/>
                <a:cs typeface="Arial"/>
              </a:defRPr>
            </a:lvl1pPr>
            <a:lvl2pPr>
              <a:defRPr sz="2250" b="1">
                <a:solidFill>
                  <a:srgbClr val="17324F"/>
                </a:solidFill>
                <a:latin typeface="Arial"/>
                <a:ea typeface="Arial"/>
                <a:cs typeface="Arial"/>
              </a:defRPr>
            </a:lvl2pPr>
            <a:lvl3pPr>
              <a:defRPr sz="2250" b="1">
                <a:solidFill>
                  <a:srgbClr val="17324F"/>
                </a:solidFill>
                <a:latin typeface="Arial"/>
                <a:ea typeface="Arial"/>
                <a:cs typeface="Arial"/>
              </a:defRPr>
            </a:lvl3pPr>
            <a:lvl4pPr>
              <a:defRPr sz="2250" b="1">
                <a:solidFill>
                  <a:srgbClr val="17324F"/>
                </a:solidFill>
                <a:latin typeface="Arial"/>
                <a:ea typeface="Arial"/>
                <a:cs typeface="Arial"/>
              </a:defRPr>
            </a:lvl4pPr>
            <a:lvl5pPr>
              <a:defRPr sz="2250" b="1">
                <a:solidFill>
                  <a:srgbClr val="17324F"/>
                </a:solidFill>
                <a:latin typeface="Arial"/>
                <a:ea typeface="Arial"/>
                <a:cs typeface="Arial"/>
              </a:defRPr>
            </a:lvl5pPr>
            <a:lvl6pPr>
              <a:defRPr sz="2250" b="1">
                <a:solidFill>
                  <a:srgbClr val="17324F"/>
                </a:solidFill>
                <a:latin typeface="Arial"/>
                <a:ea typeface="Arial"/>
                <a:cs typeface="Arial"/>
              </a:defRPr>
            </a:lvl6pPr>
            <a:lvl7pPr>
              <a:defRPr sz="2250" b="1">
                <a:solidFill>
                  <a:srgbClr val="17324F"/>
                </a:solidFill>
                <a:latin typeface="Arial"/>
                <a:ea typeface="Arial"/>
                <a:cs typeface="Arial"/>
              </a:defRPr>
            </a:lvl7pPr>
            <a:lvl8pPr>
              <a:defRPr sz="2250" b="1">
                <a:solidFill>
                  <a:srgbClr val="17324F"/>
                </a:solidFill>
                <a:latin typeface="Arial"/>
                <a:ea typeface="Arial"/>
                <a:cs typeface="Arial"/>
              </a:defRPr>
            </a:lvl8pPr>
            <a:lvl9pPr>
              <a:defRPr sz="2250" b="1">
                <a:solidFill>
                  <a:srgbClr val="17324F"/>
                </a:solidFill>
                <a:latin typeface="Arial"/>
                <a:ea typeface="Arial"/>
                <a:cs typeface="Arial"/>
              </a:defRPr>
            </a:lvl9pPr>
          </a:lstStyle>
          <a:p xmlns:a="http://schemas.openxmlformats.org/drawingml/2006/main">
            <a:pPr>
              <a:defRPr sz="2250" b="1">
                <a:solidFill>
                  <a:srgbClr val="17324F"/>
                </a:solidFill>
                <a:latin typeface="Arial"/>
                <a:ea typeface="Arial"/>
                <a:cs typeface="Arial"/>
              </a:defRPr>
            </a:pPr>
            <a:r>
              <a:rPr sz="2250" b="1">
                <a:solidFill>
                  <a:srgbClr val="17324F"/>
                </a:solidFill>
                <a:latin typeface="Arial"/>
                <a:ea typeface="Arial"/>
                <a:cs typeface="Arial"/>
              </a:rPr>
              <a:t>Question: how do variation, capacity, and downstream transfers affect waiting and blocking?</a:t>
            </a:r>
          </a:p>
        </p:txBody>
      </p:sp>
    </p:spTree>
    <p:extLst>
      <p:ext uri="{BB962C8B-B14F-4D97-AF65-F5344CB8AC3E}">
        <p14:creationId xmlns:p14="http://schemas.microsoft.com/office/powerpoint/2010/main" val="2107838684"/>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F59210-0808-4CCB-94AB-B062932DA12F}"/>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4E24AA33-B771-4F11-B46F-63A9691D3E58}"/>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Model pipeline and assumptions</a:t>
            </a:r>
          </a:p>
        </p:txBody>
      </p:sp>
      <p:sp>
        <p:nvSpPr>
          <p:cNvPr id="3" name="">
            <a:extLst xmlns:a="http://schemas.openxmlformats.org/drawingml/2006/main">
              <a:ext uri="{FF2B5EF4-FFF2-40B4-BE49-F238E27FC236}">
                <a16:creationId xmlns:a16="http://schemas.microsoft.com/office/drawing/2014/main" id="{6BADC3D4-E67C-4FC7-8BB5-50729CC68D9E}"/>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3 / 10</a:t>
            </a:r>
          </a:p>
        </p:txBody>
      </p:sp>
      <p:sp>
        <p:nvSpPr>
          <p:cNvPr id="4" name="">
            <a:extLst xmlns:a="http://schemas.openxmlformats.org/drawingml/2006/main">
              <a:ext uri="{FF2B5EF4-FFF2-40B4-BE49-F238E27FC236}">
                <a16:creationId xmlns:a16="http://schemas.microsoft.com/office/drawing/2014/main" id="{7E71C3FD-E23C-4D17-8183-994A65EEA1EB}"/>
              </a:ext>
            </a:extLst>
          </p:cNvPr>
          <p:cNvSpPr>
            <a:spLocks xmlns:a="http://schemas.openxmlformats.org/drawingml/2006/main" noGrp="1"/>
          </p:cNvSpPr>
          <p:nvPr/>
        </p:nvSpPr>
        <p:spPr>
          <a:xfrm xmlns:a="http://schemas.openxmlformats.org/drawingml/2006/main">
            <a:off x="685800" y="1971675"/>
            <a:ext cx="5095875"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Arrivals: hourly non-homogeneous Poisson profile</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Service: empirical stay distributions</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Capacity: Erlang-C waiting and Erlang-B blocking</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Network: routing plus two-stage ED/ICU simulation</a:t>
            </a:r>
          </a:p>
        </p:txBody>
      </p:sp>
      <p:sp>
        <p:nvSpPr>
          <p:cNvPr id="5" name="">
            <a:extLst xmlns:a="http://schemas.openxmlformats.org/drawingml/2006/main">
              <a:ext uri="{FF2B5EF4-FFF2-40B4-BE49-F238E27FC236}">
                <a16:creationId xmlns:a16="http://schemas.microsoft.com/office/drawing/2014/main" id="{5130F1D9-45EF-4337-96D3-5ACED7D498EA}"/>
              </a:ext>
            </a:extLst>
          </p:cNvPr>
          <p:cNvSpPr>
            <a:spLocks xmlns:a="http://schemas.openxmlformats.org/drawingml/2006/main" noGrp="1"/>
          </p:cNvSpPr>
          <p:nvPr/>
        </p:nvSpPr>
        <p:spPr>
          <a:xfrm xmlns:a="http://schemas.openxmlformats.org/drawingml/2006/main">
            <a:off x="6400800" y="207645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47C80"/>
                </a:solidFill>
                <a:latin typeface="Arial"/>
                <a:ea typeface="Arial"/>
                <a:cs typeface="Arial"/>
              </a:defRPr>
            </a:defPPr>
            <a:lvl1pPr>
              <a:defRPr sz="2400" b="1">
                <a:solidFill>
                  <a:srgbClr val="147C80"/>
                </a:solidFill>
                <a:latin typeface="Arial"/>
                <a:ea typeface="Arial"/>
                <a:cs typeface="Arial"/>
              </a:defRPr>
            </a:lvl1pPr>
            <a:lvl2pPr>
              <a:defRPr sz="2400" b="1">
                <a:solidFill>
                  <a:srgbClr val="147C80"/>
                </a:solidFill>
                <a:latin typeface="Arial"/>
                <a:ea typeface="Arial"/>
                <a:cs typeface="Arial"/>
              </a:defRPr>
            </a:lvl2pPr>
            <a:lvl3pPr>
              <a:defRPr sz="2400" b="1">
                <a:solidFill>
                  <a:srgbClr val="147C80"/>
                </a:solidFill>
                <a:latin typeface="Arial"/>
                <a:ea typeface="Arial"/>
                <a:cs typeface="Arial"/>
              </a:defRPr>
            </a:lvl3pPr>
            <a:lvl4pPr>
              <a:defRPr sz="2400" b="1">
                <a:solidFill>
                  <a:srgbClr val="147C80"/>
                </a:solidFill>
                <a:latin typeface="Arial"/>
                <a:ea typeface="Arial"/>
                <a:cs typeface="Arial"/>
              </a:defRPr>
            </a:lvl4pPr>
            <a:lvl5pPr>
              <a:defRPr sz="2400" b="1">
                <a:solidFill>
                  <a:srgbClr val="147C80"/>
                </a:solidFill>
                <a:latin typeface="Arial"/>
                <a:ea typeface="Arial"/>
                <a:cs typeface="Arial"/>
              </a:defRPr>
            </a:lvl5pPr>
            <a:lvl6pPr>
              <a:defRPr sz="2400" b="1">
                <a:solidFill>
                  <a:srgbClr val="147C80"/>
                </a:solidFill>
                <a:latin typeface="Arial"/>
                <a:ea typeface="Arial"/>
                <a:cs typeface="Arial"/>
              </a:defRPr>
            </a:lvl6pPr>
            <a:lvl7pPr>
              <a:defRPr sz="2400" b="1">
                <a:solidFill>
                  <a:srgbClr val="147C80"/>
                </a:solidFill>
                <a:latin typeface="Arial"/>
                <a:ea typeface="Arial"/>
                <a:cs typeface="Arial"/>
              </a:defRPr>
            </a:lvl7pPr>
            <a:lvl8pPr>
              <a:defRPr sz="2400" b="1">
                <a:solidFill>
                  <a:srgbClr val="147C80"/>
                </a:solidFill>
                <a:latin typeface="Arial"/>
                <a:ea typeface="Arial"/>
                <a:cs typeface="Arial"/>
              </a:defRPr>
            </a:lvl8pPr>
            <a:lvl9pPr>
              <a:defRPr sz="2400" b="1">
                <a:solidFill>
                  <a:srgbClr val="147C80"/>
                </a:solidFill>
                <a:latin typeface="Arial"/>
                <a:ea typeface="Arial"/>
                <a:cs typeface="Arial"/>
              </a:defRPr>
            </a:lvl9pPr>
          </a:lstStyle>
          <a:p xmlns:a="http://schemas.openxmlformats.org/drawingml/2006/main">
            <a:pPr>
              <a:defRPr sz="2400" b="1">
                <a:solidFill>
                  <a:srgbClr val="147C80"/>
                </a:solidFill>
                <a:latin typeface="Arial"/>
                <a:ea typeface="Arial"/>
                <a:cs typeface="Arial"/>
              </a:defRPr>
            </a:pPr>
            <a:r>
              <a:rPr sz="2400" b="1">
                <a:solidFill>
                  <a:srgbClr val="147C80"/>
                </a:solidFill>
                <a:latin typeface="Arial"/>
                <a:ea typeface="Arial"/>
                <a:cs typeface="Arial"/>
              </a:rPr>
              <a:t>Assumptions matter</a:t>
            </a:r>
          </a:p>
        </p:txBody>
      </p:sp>
      <p:sp>
        <p:nvSpPr>
          <p:cNvPr id="6" name="">
            <a:extLst xmlns:a="http://schemas.openxmlformats.org/drawingml/2006/main">
              <a:ext uri="{FF2B5EF4-FFF2-40B4-BE49-F238E27FC236}">
                <a16:creationId xmlns:a16="http://schemas.microsoft.com/office/drawing/2014/main" id="{1DFDD396-8A8B-4069-8722-BCFE5747F9C1}"/>
              </a:ext>
            </a:extLst>
          </p:cNvPr>
          <p:cNvSpPr>
            <a:spLocks xmlns:a="http://schemas.openxmlformats.org/drawingml/2006/main" noGrp="1"/>
          </p:cNvSpPr>
          <p:nvPr/>
        </p:nvSpPr>
        <p:spPr>
          <a:xfrm xmlns:a="http://schemas.openxmlformats.org/drawingml/2006/main">
            <a:off x="6400800" y="2800350"/>
            <a:ext cx="4762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Poisson arrivals, steady state, homogeneous beds, and cross-source calibration are simplifications. We report them with each result.</a:t>
            </a:r>
          </a:p>
        </p:txBody>
      </p:sp>
    </p:spTree>
    <p:extLst>
      <p:ext uri="{BB962C8B-B14F-4D97-AF65-F5344CB8AC3E}">
        <p14:creationId xmlns:p14="http://schemas.microsoft.com/office/powerpoint/2010/main" val="1882004198"/>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05803D-98A4-4C38-A022-57EC00570586}"/>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FC9BB0CB-D6E6-451D-9FD3-CD9A2F02847C}"/>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Patient stays are highly variable</a:t>
            </a:r>
          </a:p>
        </p:txBody>
      </p:sp>
      <p:sp>
        <p:nvSpPr>
          <p:cNvPr id="3" name="">
            <a:extLst xmlns:a="http://schemas.openxmlformats.org/drawingml/2006/main">
              <a:ext uri="{FF2B5EF4-FFF2-40B4-BE49-F238E27FC236}">
                <a16:creationId xmlns:a16="http://schemas.microsoft.com/office/drawing/2014/main" id="{F113DF03-4EA6-47BF-8BCE-4DC9A48C4451}"/>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4 / 10</a:t>
            </a:r>
          </a:p>
        </p:txBody>
      </p:sp>
      <p:sp>
        <p:nvSpPr>
          <p:cNvPr id="4" name="">
            <a:extLst xmlns:a="http://schemas.openxmlformats.org/drawingml/2006/main">
              <a:ext uri="{FF2B5EF4-FFF2-40B4-BE49-F238E27FC236}">
                <a16:creationId xmlns:a16="http://schemas.microsoft.com/office/drawing/2014/main" id="{EB5DEF9C-DA33-43D8-9C16-BE6EDEBFD5D4}"/>
              </a:ext>
            </a:extLst>
          </p:cNvPr>
          <p:cNvSpPr>
            <a:spLocks xmlns:a="http://schemas.openxmlformats.org/drawingml/2006/main" noGrp="1"/>
          </p:cNvSpPr>
          <p:nvPr/>
        </p:nvSpPr>
        <p:spPr>
          <a:xfrm xmlns:a="http://schemas.openxmlformats.org/drawingml/2006/main">
            <a:off x="685800" y="2095500"/>
            <a:ext cx="4762500" cy="3571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SPARCS CV² = 1.991</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eICU ICU CV² = 2.025</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MIMIC ICU CV² = 2.215</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The exponential benchmark has CV² = 1. All three cohorts exceed it.</a:t>
            </a:r>
          </a:p>
        </p:txBody>
      </p:sp>
      <p:pic>
        <p:nvPicPr>
          <p:cNvPr id="5" name="">
            <a:extLst xmlns:a="http://schemas.openxmlformats.org/drawingml/2006/main">
              <a:ext uri="{FF2B5EF4-FFF2-40B4-BE49-F238E27FC236}">
                <a16:creationId xmlns:a16="http://schemas.microsoft.com/office/drawing/2014/main" id="{D586EF24-71F8-4745-ACAF-8ED5EAA80020}"/>
              </a:ext>
            </a:extLst>
          </p:cNvPr>
          <p:cNvPicPr>
            <a:picLocks xmlns:a="http://schemas.openxmlformats.org/drawingml/2006/main" noChangeAspect="1"/>
          </p:cNvPicPr>
          <p:nvPr/>
        </p:nvPicPr>
        <p:blipFill>
          <a:blip xmlns:r="http://schemas.openxmlformats.org/officeDocument/2006/relationships" xmlns:a="http://schemas.openxmlformats.org/drawingml/2006/main" r:embed="Rf958992615384ad0"/>
          <a:stretch xmlns:a="http://schemas.openxmlformats.org/drawingml/2006/main"/>
        </p:blipFill>
        <p:spPr>
          <a:xfrm xmlns:a="http://schemas.openxmlformats.org/drawingml/2006/main">
            <a:off x="6096000" y="2328333"/>
            <a:ext cx="5334000" cy="2963333"/>
          </a:xfrm>
          <a:prstGeom xmlns:a="http://schemas.openxmlformats.org/drawingml/2006/main" prst="rect">
            <a:avLst/>
          </a:prstGeom>
        </p:spPr>
      </p:pic>
    </p:spTree>
    <p:extLst>
      <p:ext uri="{BB962C8B-B14F-4D97-AF65-F5344CB8AC3E}">
        <p14:creationId xmlns:p14="http://schemas.microsoft.com/office/powerpoint/2010/main" val="1569572767"/>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5FA56B-96F8-40B3-A28F-F1D7F4D93CE5}"/>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15F1369D-A70E-4658-BE3F-BAC499C1822D}"/>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Arrivals change over the day</a:t>
            </a:r>
          </a:p>
        </p:txBody>
      </p:sp>
      <p:sp>
        <p:nvSpPr>
          <p:cNvPr id="3" name="">
            <a:extLst xmlns:a="http://schemas.openxmlformats.org/drawingml/2006/main">
              <a:ext uri="{FF2B5EF4-FFF2-40B4-BE49-F238E27FC236}">
                <a16:creationId xmlns:a16="http://schemas.microsoft.com/office/drawing/2014/main" id="{6F4B2DF7-1D93-442C-A07B-A898567F73F8}"/>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5 / 10</a:t>
            </a:r>
          </a:p>
        </p:txBody>
      </p:sp>
      <p:sp>
        <p:nvSpPr>
          <p:cNvPr id="4" name="">
            <a:extLst xmlns:a="http://schemas.openxmlformats.org/drawingml/2006/main">
              <a:ext uri="{FF2B5EF4-FFF2-40B4-BE49-F238E27FC236}">
                <a16:creationId xmlns:a16="http://schemas.microsoft.com/office/drawing/2014/main" id="{4BAB51F2-AA2B-493B-83E2-BC33DC879155}"/>
              </a:ext>
            </a:extLst>
          </p:cNvPr>
          <p:cNvSpPr>
            <a:spLocks xmlns:a="http://schemas.openxmlformats.org/drawingml/2006/main" noGrp="1"/>
          </p:cNvSpPr>
          <p:nvPr/>
        </p:nvSpPr>
        <p:spPr>
          <a:xfrm xmlns:a="http://schemas.openxmlformats.org/drawingml/2006/main">
            <a:off x="685800" y="2047875"/>
            <a:ext cx="47625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eICU hourly pattern scaled to a CMS volume tier</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Illustrative peak: 17.09 arrivals/hour at 20:00</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Illustrative trough: 5.91 arrivals/hour at 11:00</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Peak-to-trough ratio: 2.89</a:t>
            </a:r>
          </a:p>
        </p:txBody>
      </p:sp>
      <p:pic>
        <p:nvPicPr>
          <p:cNvPr id="5" name="">
            <a:extLst xmlns:a="http://schemas.openxmlformats.org/drawingml/2006/main">
              <a:ext uri="{FF2B5EF4-FFF2-40B4-BE49-F238E27FC236}">
                <a16:creationId xmlns:a16="http://schemas.microsoft.com/office/drawing/2014/main" id="{8FC8FDA4-43B9-4BB2-82F0-D34141113F07}"/>
              </a:ext>
            </a:extLst>
          </p:cNvPr>
          <p:cNvPicPr>
            <a:picLocks xmlns:a="http://schemas.openxmlformats.org/drawingml/2006/main" noChangeAspect="1"/>
          </p:cNvPicPr>
          <p:nvPr/>
        </p:nvPicPr>
        <p:blipFill>
          <a:blip xmlns:r="http://schemas.openxmlformats.org/officeDocument/2006/relationships" xmlns:a="http://schemas.openxmlformats.org/drawingml/2006/main" r:embed="R7679911b39884965"/>
          <a:stretch xmlns:a="http://schemas.openxmlformats.org/drawingml/2006/main"/>
        </p:blipFill>
        <p:spPr>
          <a:xfrm xmlns:a="http://schemas.openxmlformats.org/drawingml/2006/main">
            <a:off x="6096000" y="2402370"/>
            <a:ext cx="5334000" cy="2815259"/>
          </a:xfrm>
          <a:prstGeom xmlns:a="http://schemas.openxmlformats.org/drawingml/2006/main" prst="rect">
            <a:avLst/>
          </a:prstGeom>
        </p:spPr>
      </p:pic>
    </p:spTree>
    <p:extLst>
      <p:ext uri="{BB962C8B-B14F-4D97-AF65-F5344CB8AC3E}">
        <p14:creationId xmlns:p14="http://schemas.microsoft.com/office/powerpoint/2010/main" val="1342013380"/>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063A5B-7F6D-4F66-8F71-C66568881C57}"/>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6B536346-63AD-4C3F-98A5-F9EBFFF8DA2F}"/>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Capacity changes waiting and blocking</a:t>
            </a:r>
          </a:p>
        </p:txBody>
      </p:sp>
      <p:sp>
        <p:nvSpPr>
          <p:cNvPr id="3" name="">
            <a:extLst xmlns:a="http://schemas.openxmlformats.org/drawingml/2006/main">
              <a:ext uri="{FF2B5EF4-FFF2-40B4-BE49-F238E27FC236}">
                <a16:creationId xmlns:a16="http://schemas.microsoft.com/office/drawing/2014/main" id="{51DA52ED-88A0-4062-B489-C9FD3727CF7B}"/>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6 / 10</a:t>
            </a:r>
          </a:p>
        </p:txBody>
      </p:sp>
      <p:sp>
        <p:nvSpPr>
          <p:cNvPr id="4" name="">
            <a:extLst xmlns:a="http://schemas.openxmlformats.org/drawingml/2006/main">
              <a:ext uri="{FF2B5EF4-FFF2-40B4-BE49-F238E27FC236}">
                <a16:creationId xmlns:a16="http://schemas.microsoft.com/office/drawing/2014/main" id="{FFA7CD46-FAFC-4AA9-A68C-F9564645BCE4}"/>
              </a:ext>
            </a:extLst>
          </p:cNvPr>
          <p:cNvSpPr>
            <a:spLocks xmlns:a="http://schemas.openxmlformats.org/drawingml/2006/main" noGrp="1"/>
          </p:cNvSpPr>
          <p:nvPr/>
        </p:nvSpPr>
        <p:spPr>
          <a:xfrm xmlns:a="http://schemas.openxmlformats.org/drawingml/2006/main">
            <a:off x="685800" y="2000250"/>
            <a:ext cx="5048250" cy="3762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Erlang-C scenario: 225 Erlangs</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230 beds: 15.55 h mean wait</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242 beds: 1.30 h mean wait</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Erlang-B scenario: 150 Erlangs</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169 beds: 1.03% blocking</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170 beds: 0.90% blocking</a:t>
            </a:r>
          </a:p>
        </p:txBody>
      </p:sp>
      <p:sp>
        <p:nvSpPr>
          <p:cNvPr id="5" name="">
            <a:extLst xmlns:a="http://schemas.openxmlformats.org/drawingml/2006/main">
              <a:ext uri="{FF2B5EF4-FFF2-40B4-BE49-F238E27FC236}">
                <a16:creationId xmlns:a16="http://schemas.microsoft.com/office/drawing/2014/main" id="{457BF368-FCBA-4DDE-81A3-CAF435BDFAEF}"/>
              </a:ext>
            </a:extLst>
          </p:cNvPr>
          <p:cNvSpPr>
            <a:spLocks xmlns:a="http://schemas.openxmlformats.org/drawingml/2006/main" noGrp="1"/>
          </p:cNvSpPr>
          <p:nvPr/>
        </p:nvSpPr>
        <p:spPr>
          <a:xfrm xmlns:a="http://schemas.openxmlformats.org/drawingml/2006/main">
            <a:off x="6191250" y="2333625"/>
            <a:ext cx="46196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F"/>
                </a:solidFill>
                <a:latin typeface="Arial"/>
                <a:ea typeface="Arial"/>
                <a:cs typeface="Arial"/>
              </a:defRPr>
            </a:defPPr>
            <a:lvl1pPr>
              <a:defRPr sz="2175" b="1">
                <a:solidFill>
                  <a:srgbClr val="17324F"/>
                </a:solidFill>
                <a:latin typeface="Arial"/>
                <a:ea typeface="Arial"/>
                <a:cs typeface="Arial"/>
              </a:defRPr>
            </a:lvl1pPr>
            <a:lvl2pPr>
              <a:defRPr sz="2175" b="1">
                <a:solidFill>
                  <a:srgbClr val="17324F"/>
                </a:solidFill>
                <a:latin typeface="Arial"/>
                <a:ea typeface="Arial"/>
                <a:cs typeface="Arial"/>
              </a:defRPr>
            </a:lvl2pPr>
            <a:lvl3pPr>
              <a:defRPr sz="2175" b="1">
                <a:solidFill>
                  <a:srgbClr val="17324F"/>
                </a:solidFill>
                <a:latin typeface="Arial"/>
                <a:ea typeface="Arial"/>
                <a:cs typeface="Arial"/>
              </a:defRPr>
            </a:lvl3pPr>
            <a:lvl4pPr>
              <a:defRPr sz="2175" b="1">
                <a:solidFill>
                  <a:srgbClr val="17324F"/>
                </a:solidFill>
                <a:latin typeface="Arial"/>
                <a:ea typeface="Arial"/>
                <a:cs typeface="Arial"/>
              </a:defRPr>
            </a:lvl4pPr>
            <a:lvl5pPr>
              <a:defRPr sz="2175" b="1">
                <a:solidFill>
                  <a:srgbClr val="17324F"/>
                </a:solidFill>
                <a:latin typeface="Arial"/>
                <a:ea typeface="Arial"/>
                <a:cs typeface="Arial"/>
              </a:defRPr>
            </a:lvl5pPr>
            <a:lvl6pPr>
              <a:defRPr sz="2175" b="1">
                <a:solidFill>
                  <a:srgbClr val="17324F"/>
                </a:solidFill>
                <a:latin typeface="Arial"/>
                <a:ea typeface="Arial"/>
                <a:cs typeface="Arial"/>
              </a:defRPr>
            </a:lvl6pPr>
            <a:lvl7pPr>
              <a:defRPr sz="2175" b="1">
                <a:solidFill>
                  <a:srgbClr val="17324F"/>
                </a:solidFill>
                <a:latin typeface="Arial"/>
                <a:ea typeface="Arial"/>
                <a:cs typeface="Arial"/>
              </a:defRPr>
            </a:lvl7pPr>
            <a:lvl8pPr>
              <a:defRPr sz="2175" b="1">
                <a:solidFill>
                  <a:srgbClr val="17324F"/>
                </a:solidFill>
                <a:latin typeface="Arial"/>
                <a:ea typeface="Arial"/>
                <a:cs typeface="Arial"/>
              </a:defRPr>
            </a:lvl8pPr>
            <a:lvl9pPr>
              <a:defRPr sz="2175" b="1">
                <a:solidFill>
                  <a:srgbClr val="17324F"/>
                </a:solidFill>
                <a:latin typeface="Arial"/>
                <a:ea typeface="Arial"/>
                <a:cs typeface="Arial"/>
              </a:defRPr>
            </a:lvl9pPr>
          </a:lstStyle>
          <a:p xmlns:a="http://schemas.openxmlformats.org/drawingml/2006/main">
            <a:pPr>
              <a:defRPr sz="2175" b="1">
                <a:solidFill>
                  <a:srgbClr val="17324F"/>
                </a:solidFill>
                <a:latin typeface="Arial"/>
                <a:ea typeface="Arial"/>
                <a:cs typeface="Arial"/>
              </a:defRPr>
            </a:pPr>
            <a:r>
              <a:rPr sz="2175" b="1">
                <a:solidFill>
                  <a:srgbClr val="17324F"/>
                </a:solidFill>
                <a:latin typeface="Arial"/>
                <a:ea typeface="Arial"/>
                <a:cs typeface="Arial"/>
              </a:rPr>
              <a:t>The 1% target is a chosen planning threshold, not a regulation. Results are conditional on model rates and service assumptions.</a:t>
            </a:r>
          </a:p>
        </p:txBody>
      </p:sp>
    </p:spTree>
    <p:extLst>
      <p:ext uri="{BB962C8B-B14F-4D97-AF65-F5344CB8AC3E}">
        <p14:creationId xmlns:p14="http://schemas.microsoft.com/office/powerpoint/2010/main" val="673796724"/>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632BCE-BEE7-4C59-8B17-C733E4276C90}"/>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3D4D8B7E-1E60-4C7C-B744-5CD2664FD03A}"/>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A full ICU can hold an ED bay</a:t>
            </a:r>
          </a:p>
        </p:txBody>
      </p:sp>
      <p:sp>
        <p:nvSpPr>
          <p:cNvPr id="3" name="">
            <a:extLst xmlns:a="http://schemas.openxmlformats.org/drawingml/2006/main">
              <a:ext uri="{FF2B5EF4-FFF2-40B4-BE49-F238E27FC236}">
                <a16:creationId xmlns:a16="http://schemas.microsoft.com/office/drawing/2014/main" id="{29C779CF-A79D-435A-9224-A1D5C0935BD7}"/>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7 / 10</a:t>
            </a:r>
          </a:p>
        </p:txBody>
      </p:sp>
      <p:sp>
        <p:nvSpPr>
          <p:cNvPr id="4" name="">
            <a:extLst xmlns:a="http://schemas.openxmlformats.org/drawingml/2006/main">
              <a:ext uri="{FF2B5EF4-FFF2-40B4-BE49-F238E27FC236}">
                <a16:creationId xmlns:a16="http://schemas.microsoft.com/office/drawing/2014/main" id="{A31F6DC1-FF92-4EEF-8C4E-1134A0AA879C}"/>
              </a:ext>
            </a:extLst>
          </p:cNvPr>
          <p:cNvSpPr>
            <a:spLocks xmlns:a="http://schemas.openxmlformats.org/drawingml/2006/main" noGrp="1"/>
          </p:cNvSpPr>
          <p:nvPr/>
        </p:nvSpPr>
        <p:spPr>
          <a:xfrm xmlns:a="http://schemas.openxmlformats.org/drawingml/2006/main">
            <a:off x="685800" y="1952625"/>
            <a:ext cx="485775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Repaired two-stage simulation:</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45 ED bays, ICU capacities 70–120</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At 90 ICU beds:</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4.80% modeled ED abandonment</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2.25 h mean delay among boarded patients</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86.3% ICU utilization</a:t>
            </a:r>
          </a:p>
        </p:txBody>
      </p:sp>
      <p:pic>
        <p:nvPicPr>
          <p:cNvPr id="5" name="">
            <a:extLst xmlns:a="http://schemas.openxmlformats.org/drawingml/2006/main">
              <a:ext uri="{FF2B5EF4-FFF2-40B4-BE49-F238E27FC236}">
                <a16:creationId xmlns:a16="http://schemas.microsoft.com/office/drawing/2014/main" id="{DB618E5A-40A4-43B5-9FEF-8335806FAE7D}"/>
              </a:ext>
            </a:extLst>
          </p:cNvPr>
          <p:cNvPicPr>
            <a:picLocks xmlns:a="http://schemas.openxmlformats.org/drawingml/2006/main" noChangeAspect="1"/>
          </p:cNvPicPr>
          <p:nvPr/>
        </p:nvPicPr>
        <p:blipFill>
          <a:blip xmlns:r="http://schemas.openxmlformats.org/officeDocument/2006/relationships" xmlns:a="http://schemas.openxmlformats.org/drawingml/2006/main" r:embed="R61b14587fa424f03"/>
          <a:stretch xmlns:a="http://schemas.openxmlformats.org/drawingml/2006/main"/>
        </p:blipFill>
        <p:spPr>
          <a:xfrm xmlns:a="http://schemas.openxmlformats.org/drawingml/2006/main">
            <a:off x="6360261" y="1952625"/>
            <a:ext cx="4805478" cy="3714750"/>
          </a:xfrm>
          <a:prstGeom xmlns:a="http://schemas.openxmlformats.org/drawingml/2006/main" prst="rect">
            <a:avLst/>
          </a:prstGeom>
        </p:spPr>
      </p:pic>
    </p:spTree>
    <p:extLst>
      <p:ext uri="{BB962C8B-B14F-4D97-AF65-F5344CB8AC3E}">
        <p14:creationId xmlns:p14="http://schemas.microsoft.com/office/powerpoint/2010/main" val="1456060257"/>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11E9F4-A62F-4EE6-8A1C-17A1FB7B6EA1}"/>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197FC054-D8FB-4D41-8211-EB23AFBFD56B}"/>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Validation exposes a remaining mismatch</a:t>
            </a:r>
          </a:p>
        </p:txBody>
      </p:sp>
      <p:sp>
        <p:nvSpPr>
          <p:cNvPr id="3" name="">
            <a:extLst xmlns:a="http://schemas.openxmlformats.org/drawingml/2006/main">
              <a:ext uri="{FF2B5EF4-FFF2-40B4-BE49-F238E27FC236}">
                <a16:creationId xmlns:a16="http://schemas.microsoft.com/office/drawing/2014/main" id="{56CEBEB2-91D7-4B41-94DA-1C24F70F6251}"/>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8 / 10</a:t>
            </a:r>
          </a:p>
        </p:txBody>
      </p:sp>
      <p:sp>
        <p:nvSpPr>
          <p:cNvPr id="4" name="">
            <a:extLst xmlns:a="http://schemas.openxmlformats.org/drawingml/2006/main">
              <a:ext uri="{FF2B5EF4-FFF2-40B4-BE49-F238E27FC236}">
                <a16:creationId xmlns:a16="http://schemas.microsoft.com/office/drawing/2014/main" id="{45B9B6A5-AFE5-4A7F-9790-EF562003ACA2}"/>
              </a:ext>
            </a:extLst>
          </p:cNvPr>
          <p:cNvSpPr>
            <a:spLocks xmlns:a="http://schemas.openxmlformats.org/drawingml/2006/main" noGrp="1"/>
          </p:cNvSpPr>
          <p:nvPr/>
        </p:nvSpPr>
        <p:spPr>
          <a:xfrm xmlns:a="http://schemas.openxmlformats.org/drawingml/2006/main">
            <a:off x="685800" y="20002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7C80"/>
                </a:solidFill>
                <a:latin typeface="Arial"/>
                <a:ea typeface="Arial"/>
                <a:cs typeface="Arial"/>
              </a:defRPr>
            </a:defPPr>
            <a:lvl1pPr>
              <a:defRPr sz="2100" b="1">
                <a:solidFill>
                  <a:srgbClr val="147C80"/>
                </a:solidFill>
                <a:latin typeface="Arial"/>
                <a:ea typeface="Arial"/>
                <a:cs typeface="Arial"/>
              </a:defRPr>
            </a:lvl1pPr>
            <a:lvl2pPr>
              <a:defRPr sz="2100" b="1">
                <a:solidFill>
                  <a:srgbClr val="147C80"/>
                </a:solidFill>
                <a:latin typeface="Arial"/>
                <a:ea typeface="Arial"/>
                <a:cs typeface="Arial"/>
              </a:defRPr>
            </a:lvl2pPr>
            <a:lvl3pPr>
              <a:defRPr sz="2100" b="1">
                <a:solidFill>
                  <a:srgbClr val="147C80"/>
                </a:solidFill>
                <a:latin typeface="Arial"/>
                <a:ea typeface="Arial"/>
                <a:cs typeface="Arial"/>
              </a:defRPr>
            </a:lvl3pPr>
            <a:lvl4pPr>
              <a:defRPr sz="2100" b="1">
                <a:solidFill>
                  <a:srgbClr val="147C80"/>
                </a:solidFill>
                <a:latin typeface="Arial"/>
                <a:ea typeface="Arial"/>
                <a:cs typeface="Arial"/>
              </a:defRPr>
            </a:lvl4pPr>
            <a:lvl5pPr>
              <a:defRPr sz="2100" b="1">
                <a:solidFill>
                  <a:srgbClr val="147C80"/>
                </a:solidFill>
                <a:latin typeface="Arial"/>
                <a:ea typeface="Arial"/>
                <a:cs typeface="Arial"/>
              </a:defRPr>
            </a:lvl5pPr>
            <a:lvl6pPr>
              <a:defRPr sz="2100" b="1">
                <a:solidFill>
                  <a:srgbClr val="147C80"/>
                </a:solidFill>
                <a:latin typeface="Arial"/>
                <a:ea typeface="Arial"/>
                <a:cs typeface="Arial"/>
              </a:defRPr>
            </a:lvl6pPr>
            <a:lvl7pPr>
              <a:defRPr sz="2100" b="1">
                <a:solidFill>
                  <a:srgbClr val="147C80"/>
                </a:solidFill>
                <a:latin typeface="Arial"/>
                <a:ea typeface="Arial"/>
                <a:cs typeface="Arial"/>
              </a:defRPr>
            </a:lvl7pPr>
            <a:lvl8pPr>
              <a:defRPr sz="2100" b="1">
                <a:solidFill>
                  <a:srgbClr val="147C80"/>
                </a:solidFill>
                <a:latin typeface="Arial"/>
                <a:ea typeface="Arial"/>
                <a:cs typeface="Arial"/>
              </a:defRPr>
            </a:lvl8pPr>
            <a:lvl9pPr>
              <a:defRPr sz="2100" b="1">
                <a:solidFill>
                  <a:srgbClr val="147C80"/>
                </a:solidFill>
                <a:latin typeface="Arial"/>
                <a:ea typeface="Arial"/>
                <a:cs typeface="Arial"/>
              </a:defRPr>
            </a:lvl9pPr>
          </a:lstStyle>
          <a:p xmlns:a="http://schemas.openxmlformats.org/drawingml/2006/main">
            <a:pPr>
              <a:defRPr sz="2100" b="1">
                <a:solidFill>
                  <a:srgbClr val="147C80"/>
                </a:solidFill>
                <a:latin typeface="Arial"/>
                <a:ea typeface="Arial"/>
                <a:cs typeface="Arial"/>
              </a:defRPr>
            </a:pPr>
            <a:r>
              <a:rPr sz="2100" b="1">
                <a:solidFill>
                  <a:srgbClr val="147C80"/>
                </a:solidFill>
                <a:latin typeface="Arial"/>
                <a:ea typeface="Arial"/>
                <a:cs typeface="Arial"/>
              </a:rPr>
              <a:t>CMS very-high-volume tier</a:t>
            </a:r>
          </a:p>
        </p:txBody>
      </p:sp>
      <p:sp>
        <p:nvSpPr>
          <p:cNvPr id="5" name="">
            <a:extLst xmlns:a="http://schemas.openxmlformats.org/drawingml/2006/main">
              <a:ext uri="{FF2B5EF4-FFF2-40B4-BE49-F238E27FC236}">
                <a16:creationId xmlns:a16="http://schemas.microsoft.com/office/drawing/2014/main" id="{5EDFC14D-9F39-41C3-A683-669FBC1467A6}"/>
              </a:ext>
            </a:extLst>
          </p:cNvPr>
          <p:cNvSpPr>
            <a:spLocks xmlns:a="http://schemas.openxmlformats.org/drawingml/2006/main" noGrp="1"/>
          </p:cNvSpPr>
          <p:nvPr/>
        </p:nvSpPr>
        <p:spPr>
          <a:xfrm xmlns:a="http://schemas.openxmlformats.org/drawingml/2006/main">
            <a:off x="685800" y="2571750"/>
            <a:ext cx="4667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ED abandonment: 2.33%</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ED sojourn: 202.5 min</a:t>
            </a:r>
          </a:p>
        </p:txBody>
      </p:sp>
      <p:sp>
        <p:nvSpPr>
          <p:cNvPr id="6" name="">
            <a:extLst xmlns:a="http://schemas.openxmlformats.org/drawingml/2006/main">
              <a:ext uri="{FF2B5EF4-FFF2-40B4-BE49-F238E27FC236}">
                <a16:creationId xmlns:a16="http://schemas.microsoft.com/office/drawing/2014/main" id="{1E0735DE-285C-4869-981D-C3081FA2BDB3}"/>
              </a:ext>
            </a:extLst>
          </p:cNvPr>
          <p:cNvSpPr>
            <a:spLocks xmlns:a="http://schemas.openxmlformats.org/drawingml/2006/main" noGrp="1"/>
          </p:cNvSpPr>
          <p:nvPr/>
        </p:nvSpPr>
        <p:spPr>
          <a:xfrm xmlns:a="http://schemas.openxmlformats.org/drawingml/2006/main">
            <a:off x="6191250" y="2000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7C80"/>
                </a:solidFill>
                <a:latin typeface="Arial"/>
                <a:ea typeface="Arial"/>
                <a:cs typeface="Arial"/>
              </a:defRPr>
            </a:defPPr>
            <a:lvl1pPr>
              <a:defRPr sz="2100" b="1">
                <a:solidFill>
                  <a:srgbClr val="147C80"/>
                </a:solidFill>
                <a:latin typeface="Arial"/>
                <a:ea typeface="Arial"/>
                <a:cs typeface="Arial"/>
              </a:defRPr>
            </a:lvl1pPr>
            <a:lvl2pPr>
              <a:defRPr sz="2100" b="1">
                <a:solidFill>
                  <a:srgbClr val="147C80"/>
                </a:solidFill>
                <a:latin typeface="Arial"/>
                <a:ea typeface="Arial"/>
                <a:cs typeface="Arial"/>
              </a:defRPr>
            </a:lvl2pPr>
            <a:lvl3pPr>
              <a:defRPr sz="2100" b="1">
                <a:solidFill>
                  <a:srgbClr val="147C80"/>
                </a:solidFill>
                <a:latin typeface="Arial"/>
                <a:ea typeface="Arial"/>
                <a:cs typeface="Arial"/>
              </a:defRPr>
            </a:lvl3pPr>
            <a:lvl4pPr>
              <a:defRPr sz="2100" b="1">
                <a:solidFill>
                  <a:srgbClr val="147C80"/>
                </a:solidFill>
                <a:latin typeface="Arial"/>
                <a:ea typeface="Arial"/>
                <a:cs typeface="Arial"/>
              </a:defRPr>
            </a:lvl4pPr>
            <a:lvl5pPr>
              <a:defRPr sz="2100" b="1">
                <a:solidFill>
                  <a:srgbClr val="147C80"/>
                </a:solidFill>
                <a:latin typeface="Arial"/>
                <a:ea typeface="Arial"/>
                <a:cs typeface="Arial"/>
              </a:defRPr>
            </a:lvl5pPr>
            <a:lvl6pPr>
              <a:defRPr sz="2100" b="1">
                <a:solidFill>
                  <a:srgbClr val="147C80"/>
                </a:solidFill>
                <a:latin typeface="Arial"/>
                <a:ea typeface="Arial"/>
                <a:cs typeface="Arial"/>
              </a:defRPr>
            </a:lvl6pPr>
            <a:lvl7pPr>
              <a:defRPr sz="2100" b="1">
                <a:solidFill>
                  <a:srgbClr val="147C80"/>
                </a:solidFill>
                <a:latin typeface="Arial"/>
                <a:ea typeface="Arial"/>
                <a:cs typeface="Arial"/>
              </a:defRPr>
            </a:lvl7pPr>
            <a:lvl8pPr>
              <a:defRPr sz="2100" b="1">
                <a:solidFill>
                  <a:srgbClr val="147C80"/>
                </a:solidFill>
                <a:latin typeface="Arial"/>
                <a:ea typeface="Arial"/>
                <a:cs typeface="Arial"/>
              </a:defRPr>
            </a:lvl8pPr>
            <a:lvl9pPr>
              <a:defRPr sz="2100" b="1">
                <a:solidFill>
                  <a:srgbClr val="147C80"/>
                </a:solidFill>
                <a:latin typeface="Arial"/>
                <a:ea typeface="Arial"/>
                <a:cs typeface="Arial"/>
              </a:defRPr>
            </a:lvl9pPr>
          </a:lstStyle>
          <a:p xmlns:a="http://schemas.openxmlformats.org/drawingml/2006/main">
            <a:pPr>
              <a:defRPr sz="2100" b="1">
                <a:solidFill>
                  <a:srgbClr val="147C80"/>
                </a:solidFill>
                <a:latin typeface="Arial"/>
                <a:ea typeface="Arial"/>
                <a:cs typeface="Arial"/>
              </a:defRPr>
            </a:pPr>
            <a:r>
              <a:rPr sz="2100" b="1">
                <a:solidFill>
                  <a:srgbClr val="147C80"/>
                </a:solidFill>
                <a:latin typeface="Arial"/>
                <a:ea typeface="Arial"/>
                <a:cs typeface="Arial"/>
              </a:rPr>
              <a:t>Partner simulation at 90 ICU beds</a:t>
            </a:r>
          </a:p>
        </p:txBody>
      </p:sp>
      <p:sp>
        <p:nvSpPr>
          <p:cNvPr id="7" name="">
            <a:extLst xmlns:a="http://schemas.openxmlformats.org/drawingml/2006/main">
              <a:ext uri="{FF2B5EF4-FFF2-40B4-BE49-F238E27FC236}">
                <a16:creationId xmlns:a16="http://schemas.microsoft.com/office/drawing/2014/main" id="{8EDF9978-D033-42B0-8EF0-6542ADDF2717}"/>
              </a:ext>
            </a:extLst>
          </p:cNvPr>
          <p:cNvSpPr>
            <a:spLocks xmlns:a="http://schemas.openxmlformats.org/drawingml/2006/main" noGrp="1"/>
          </p:cNvSpPr>
          <p:nvPr/>
        </p:nvSpPr>
        <p:spPr>
          <a:xfrm xmlns:a="http://schemas.openxmlformats.org/drawingml/2006/main">
            <a:off x="6191250" y="257175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ED abandonment: 4.80% ± 0.31%</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ED sojourn: 206.7 ± 1.6 min</a:t>
            </a:r>
          </a:p>
        </p:txBody>
      </p:sp>
      <p:sp>
        <p:nvSpPr>
          <p:cNvPr id="8" name="">
            <a:extLst xmlns:a="http://schemas.openxmlformats.org/drawingml/2006/main">
              <a:ext uri="{FF2B5EF4-FFF2-40B4-BE49-F238E27FC236}">
                <a16:creationId xmlns:a16="http://schemas.microsoft.com/office/drawing/2014/main" id="{3EDC6319-34E5-48E1-8EFD-27A3FEDD52D4}"/>
              </a:ext>
            </a:extLst>
          </p:cNvPr>
          <p:cNvSpPr>
            <a:spLocks xmlns:a="http://schemas.openxmlformats.org/drawingml/2006/main" noGrp="1"/>
          </p:cNvSpPr>
          <p:nvPr/>
        </p:nvSpPr>
        <p:spPr>
          <a:xfrm xmlns:a="http://schemas.openxmlformats.org/drawingml/2006/main">
            <a:off x="685800" y="51435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7324F"/>
                </a:solidFill>
                <a:latin typeface="Arial"/>
                <a:ea typeface="Arial"/>
                <a:cs typeface="Arial"/>
              </a:defRPr>
            </a:defPPr>
            <a:lvl1pPr>
              <a:defRPr sz="2025" b="1">
                <a:solidFill>
                  <a:srgbClr val="17324F"/>
                </a:solidFill>
                <a:latin typeface="Arial"/>
                <a:ea typeface="Arial"/>
                <a:cs typeface="Arial"/>
              </a:defRPr>
            </a:lvl1pPr>
            <a:lvl2pPr>
              <a:defRPr sz="2025" b="1">
                <a:solidFill>
                  <a:srgbClr val="17324F"/>
                </a:solidFill>
                <a:latin typeface="Arial"/>
                <a:ea typeface="Arial"/>
                <a:cs typeface="Arial"/>
              </a:defRPr>
            </a:lvl2pPr>
            <a:lvl3pPr>
              <a:defRPr sz="2025" b="1">
                <a:solidFill>
                  <a:srgbClr val="17324F"/>
                </a:solidFill>
                <a:latin typeface="Arial"/>
                <a:ea typeface="Arial"/>
                <a:cs typeface="Arial"/>
              </a:defRPr>
            </a:lvl3pPr>
            <a:lvl4pPr>
              <a:defRPr sz="2025" b="1">
                <a:solidFill>
                  <a:srgbClr val="17324F"/>
                </a:solidFill>
                <a:latin typeface="Arial"/>
                <a:ea typeface="Arial"/>
                <a:cs typeface="Arial"/>
              </a:defRPr>
            </a:lvl4pPr>
            <a:lvl5pPr>
              <a:defRPr sz="2025" b="1">
                <a:solidFill>
                  <a:srgbClr val="17324F"/>
                </a:solidFill>
                <a:latin typeface="Arial"/>
                <a:ea typeface="Arial"/>
                <a:cs typeface="Arial"/>
              </a:defRPr>
            </a:lvl5pPr>
            <a:lvl6pPr>
              <a:defRPr sz="2025" b="1">
                <a:solidFill>
                  <a:srgbClr val="17324F"/>
                </a:solidFill>
                <a:latin typeface="Arial"/>
                <a:ea typeface="Arial"/>
                <a:cs typeface="Arial"/>
              </a:defRPr>
            </a:lvl6pPr>
            <a:lvl7pPr>
              <a:defRPr sz="2025" b="1">
                <a:solidFill>
                  <a:srgbClr val="17324F"/>
                </a:solidFill>
                <a:latin typeface="Arial"/>
                <a:ea typeface="Arial"/>
                <a:cs typeface="Arial"/>
              </a:defRPr>
            </a:lvl7pPr>
            <a:lvl8pPr>
              <a:defRPr sz="2025" b="1">
                <a:solidFill>
                  <a:srgbClr val="17324F"/>
                </a:solidFill>
                <a:latin typeface="Arial"/>
                <a:ea typeface="Arial"/>
                <a:cs typeface="Arial"/>
              </a:defRPr>
            </a:lvl8pPr>
            <a:lvl9pPr>
              <a:defRPr sz="2025" b="1">
                <a:solidFill>
                  <a:srgbClr val="17324F"/>
                </a:solidFill>
                <a:latin typeface="Arial"/>
                <a:ea typeface="Arial"/>
                <a:cs typeface="Arial"/>
              </a:defRPr>
            </a:lvl9pPr>
          </a:lstStyle>
          <a:p xmlns:a="http://schemas.openxmlformats.org/drawingml/2006/main">
            <a:pPr>
              <a:defRPr sz="2025" b="1">
                <a:solidFill>
                  <a:srgbClr val="17324F"/>
                </a:solidFill>
                <a:latin typeface="Arial"/>
                <a:ea typeface="Arial"/>
                <a:cs typeface="Arial"/>
              </a:defRPr>
            </a:pPr>
            <a:r>
              <a:rPr sz="2025" b="1">
                <a:solidFill>
                  <a:srgbClr val="17324F"/>
                </a:solidFill>
                <a:latin typeface="Arial"/>
                <a:ea typeface="Arial"/>
                <a:cs typeface="Arial"/>
              </a:rPr>
              <a:t>Both benchmark comparisons fail the reported simulation intervals. This model cannot support a clinical capacity recommendation.</a:t>
            </a:r>
          </a:p>
        </p:txBody>
      </p:sp>
    </p:spTree>
    <p:extLst>
      <p:ext uri="{BB962C8B-B14F-4D97-AF65-F5344CB8AC3E}">
        <p14:creationId xmlns:p14="http://schemas.microsoft.com/office/powerpoint/2010/main" val="1600109122"/>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6D0AE2-80BB-4089-9171-E20FC09147B2}"/>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28297459-DED3-4C42-8BE8-34053932A608}"/>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Allocation and staffing scenarios</a:t>
            </a:r>
          </a:p>
        </p:txBody>
      </p:sp>
      <p:sp>
        <p:nvSpPr>
          <p:cNvPr id="3" name="">
            <a:extLst xmlns:a="http://schemas.openxmlformats.org/drawingml/2006/main">
              <a:ext uri="{FF2B5EF4-FFF2-40B4-BE49-F238E27FC236}">
                <a16:creationId xmlns:a16="http://schemas.microsoft.com/office/drawing/2014/main" id="{9E9FA1EA-C0B0-4C4E-A54A-55A12B4029AD}"/>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9 / 10</a:t>
            </a:r>
          </a:p>
        </p:txBody>
      </p:sp>
      <p:sp>
        <p:nvSpPr>
          <p:cNvPr id="4" name="">
            <a:extLst xmlns:a="http://schemas.openxmlformats.org/drawingml/2006/main">
              <a:ext uri="{FF2B5EF4-FFF2-40B4-BE49-F238E27FC236}">
                <a16:creationId xmlns:a16="http://schemas.microsoft.com/office/drawing/2014/main" id="{919C362C-B876-4411-ABC6-AFB860D5FD57}"/>
              </a:ext>
            </a:extLst>
          </p:cNvPr>
          <p:cNvSpPr>
            <a:spLocks xmlns:a="http://schemas.openxmlformats.org/drawingml/2006/main" noGrp="1"/>
          </p:cNvSpPr>
          <p:nvPr/>
        </p:nvSpPr>
        <p:spPr>
          <a:xfrm xmlns:a="http://schemas.openxmlformats.org/drawingml/2006/main">
            <a:off x="685800" y="2000250"/>
            <a:ext cx="4953000" cy="3762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230-bed allocation example:</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Weighted blocking objective falls from 0.40374 to 0.06550 (83.8%).</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Pointwise staffing scenario:</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Peak modeled wait falls from 41.5 to 1.1 minutes with the same bed-hours.</a:t>
            </a:r>
          </a:p>
        </p:txBody>
      </p:sp>
      <p:pic>
        <p:nvPicPr>
          <p:cNvPr id="5" name="">
            <a:extLst xmlns:a="http://schemas.openxmlformats.org/drawingml/2006/main">
              <a:ext uri="{FF2B5EF4-FFF2-40B4-BE49-F238E27FC236}">
                <a16:creationId xmlns:a16="http://schemas.microsoft.com/office/drawing/2014/main" id="{3CAEE23D-EDBB-438E-9D33-76F761D4B8DF}"/>
              </a:ext>
            </a:extLst>
          </p:cNvPr>
          <p:cNvPicPr>
            <a:picLocks xmlns:a="http://schemas.openxmlformats.org/drawingml/2006/main" noChangeAspect="1"/>
          </p:cNvPicPr>
          <p:nvPr/>
        </p:nvPicPr>
        <p:blipFill>
          <a:blip xmlns:r="http://schemas.openxmlformats.org/officeDocument/2006/relationships" xmlns:a="http://schemas.openxmlformats.org/drawingml/2006/main" r:embed="Recf9c610251945c2"/>
          <a:stretch xmlns:a="http://schemas.openxmlformats.org/drawingml/2006/main"/>
        </p:blipFill>
        <p:spPr>
          <a:xfrm xmlns:a="http://schemas.openxmlformats.org/drawingml/2006/main">
            <a:off x="6096000" y="2745688"/>
            <a:ext cx="5334000" cy="2128624"/>
          </a:xfrm>
          <a:prstGeom xmlns:a="http://schemas.openxmlformats.org/drawingml/2006/main" prst="rect">
            <a:avLst/>
          </a:prstGeom>
        </p:spPr>
      </p:pic>
    </p:spTree>
    <p:extLst>
      <p:ext uri="{BB962C8B-B14F-4D97-AF65-F5344CB8AC3E}">
        <p14:creationId xmlns:p14="http://schemas.microsoft.com/office/powerpoint/2010/main" val="1622485201"/>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80853D-32A8-4675-AC2F-9D3C26E4D553}"/>
              </a:ext>
            </a:extLst>
          </p:cNvPr>
          <p:cNvSpPr>
            <a:spLocks xmlns:a="http://schemas.openxmlformats.org/drawingml/2006/main" noGrp="1"/>
          </p:cNvSpPr>
          <p:nvPr/>
        </p:nvSpPr>
        <p:spPr>
          <a:xfrm xmlns:a="http://schemas.openxmlformats.org/drawingml/2006/main">
            <a:off x="685800" y="33337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7C80"/>
                </a:solidFill>
                <a:latin typeface="Arial"/>
                <a:ea typeface="Arial"/>
                <a:cs typeface="Arial"/>
              </a:defRPr>
            </a:defPPr>
            <a:lvl1pPr>
              <a:defRPr sz="1200" b="1">
                <a:solidFill>
                  <a:srgbClr val="147C80"/>
                </a:solidFill>
                <a:latin typeface="Arial"/>
                <a:ea typeface="Arial"/>
                <a:cs typeface="Arial"/>
              </a:defRPr>
            </a:lvl1pPr>
            <a:lvl2pPr>
              <a:defRPr sz="1200" b="1">
                <a:solidFill>
                  <a:srgbClr val="147C80"/>
                </a:solidFill>
                <a:latin typeface="Arial"/>
                <a:ea typeface="Arial"/>
                <a:cs typeface="Arial"/>
              </a:defRPr>
            </a:lvl2pPr>
            <a:lvl3pPr>
              <a:defRPr sz="1200" b="1">
                <a:solidFill>
                  <a:srgbClr val="147C80"/>
                </a:solidFill>
                <a:latin typeface="Arial"/>
                <a:ea typeface="Arial"/>
                <a:cs typeface="Arial"/>
              </a:defRPr>
            </a:lvl3pPr>
            <a:lvl4pPr>
              <a:defRPr sz="1200" b="1">
                <a:solidFill>
                  <a:srgbClr val="147C80"/>
                </a:solidFill>
                <a:latin typeface="Arial"/>
                <a:ea typeface="Arial"/>
                <a:cs typeface="Arial"/>
              </a:defRPr>
            </a:lvl4pPr>
            <a:lvl5pPr>
              <a:defRPr sz="1200" b="1">
                <a:solidFill>
                  <a:srgbClr val="147C80"/>
                </a:solidFill>
                <a:latin typeface="Arial"/>
                <a:ea typeface="Arial"/>
                <a:cs typeface="Arial"/>
              </a:defRPr>
            </a:lvl5pPr>
            <a:lvl6pPr>
              <a:defRPr sz="1200" b="1">
                <a:solidFill>
                  <a:srgbClr val="147C80"/>
                </a:solidFill>
                <a:latin typeface="Arial"/>
                <a:ea typeface="Arial"/>
                <a:cs typeface="Arial"/>
              </a:defRPr>
            </a:lvl6pPr>
            <a:lvl7pPr>
              <a:defRPr sz="1200" b="1">
                <a:solidFill>
                  <a:srgbClr val="147C80"/>
                </a:solidFill>
                <a:latin typeface="Arial"/>
                <a:ea typeface="Arial"/>
                <a:cs typeface="Arial"/>
              </a:defRPr>
            </a:lvl7pPr>
            <a:lvl8pPr>
              <a:defRPr sz="1200" b="1">
                <a:solidFill>
                  <a:srgbClr val="147C80"/>
                </a:solidFill>
                <a:latin typeface="Arial"/>
                <a:ea typeface="Arial"/>
                <a:cs typeface="Arial"/>
              </a:defRPr>
            </a:lvl8pPr>
            <a:lvl9pPr>
              <a:defRPr sz="1200" b="1">
                <a:solidFill>
                  <a:srgbClr val="147C80"/>
                </a:solidFill>
                <a:latin typeface="Arial"/>
                <a:ea typeface="Arial"/>
                <a:cs typeface="Arial"/>
              </a:defRPr>
            </a:lvl9pPr>
          </a:lstStyle>
          <a:p xmlns:a="http://schemas.openxmlformats.org/drawingml/2006/main">
            <a:pPr>
              <a:defRPr sz="1200" b="1">
                <a:solidFill>
                  <a:srgbClr val="147C80"/>
                </a:solidFill>
                <a:latin typeface="Arial"/>
                <a:ea typeface="Arial"/>
                <a:cs typeface="Arial"/>
              </a:defRPr>
            </a:pPr>
            <a:r>
              <a:rPr sz="1200" b="1">
                <a:solidFill>
                  <a:srgbClr val="147C80"/>
                </a:solidFill>
                <a:latin typeface="Arial"/>
                <a:ea typeface="Arial"/>
                <a:cs typeface="Arial"/>
              </a:rPr>
              <a:t>APPLIED STOCHASTIC MODELS</a:t>
            </a:r>
          </a:p>
        </p:txBody>
      </p:sp>
      <p:sp>
        <p:nvSpPr>
          <p:cNvPr id="2" name="">
            <a:extLst xmlns:a="http://schemas.openxmlformats.org/drawingml/2006/main">
              <a:ext uri="{FF2B5EF4-FFF2-40B4-BE49-F238E27FC236}">
                <a16:creationId xmlns:a16="http://schemas.microsoft.com/office/drawing/2014/main" id="{F3DECC08-01C2-4CBD-BB7C-461E24CCFF6D}"/>
              </a:ext>
            </a:extLst>
          </p:cNvPr>
          <p:cNvSpPr>
            <a:spLocks xmlns:a="http://schemas.openxmlformats.org/drawingml/2006/main" noGrp="1"/>
          </p:cNvSpPr>
          <p:nvPr/>
        </p:nvSpPr>
        <p:spPr>
          <a:xfrm xmlns:a="http://schemas.openxmlformats.org/drawingml/2006/main">
            <a:off x="685800" y="74295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7324F"/>
                </a:solidFill>
                <a:latin typeface="Arial"/>
                <a:ea typeface="Arial"/>
                <a:cs typeface="Arial"/>
              </a:defRPr>
            </a:defPPr>
            <a:lvl1pPr>
              <a:defRPr sz="2850" b="1">
                <a:solidFill>
                  <a:srgbClr val="17324F"/>
                </a:solidFill>
                <a:latin typeface="Arial"/>
                <a:ea typeface="Arial"/>
                <a:cs typeface="Arial"/>
              </a:defRPr>
            </a:lvl1pPr>
            <a:lvl2pPr>
              <a:defRPr sz="2850" b="1">
                <a:solidFill>
                  <a:srgbClr val="17324F"/>
                </a:solidFill>
                <a:latin typeface="Arial"/>
                <a:ea typeface="Arial"/>
                <a:cs typeface="Arial"/>
              </a:defRPr>
            </a:lvl2pPr>
            <a:lvl3pPr>
              <a:defRPr sz="2850" b="1">
                <a:solidFill>
                  <a:srgbClr val="17324F"/>
                </a:solidFill>
                <a:latin typeface="Arial"/>
                <a:ea typeface="Arial"/>
                <a:cs typeface="Arial"/>
              </a:defRPr>
            </a:lvl3pPr>
            <a:lvl4pPr>
              <a:defRPr sz="2850" b="1">
                <a:solidFill>
                  <a:srgbClr val="17324F"/>
                </a:solidFill>
                <a:latin typeface="Arial"/>
                <a:ea typeface="Arial"/>
                <a:cs typeface="Arial"/>
              </a:defRPr>
            </a:lvl4pPr>
            <a:lvl5pPr>
              <a:defRPr sz="2850" b="1">
                <a:solidFill>
                  <a:srgbClr val="17324F"/>
                </a:solidFill>
                <a:latin typeface="Arial"/>
                <a:ea typeface="Arial"/>
                <a:cs typeface="Arial"/>
              </a:defRPr>
            </a:lvl5pPr>
            <a:lvl6pPr>
              <a:defRPr sz="2850" b="1">
                <a:solidFill>
                  <a:srgbClr val="17324F"/>
                </a:solidFill>
                <a:latin typeface="Arial"/>
                <a:ea typeface="Arial"/>
                <a:cs typeface="Arial"/>
              </a:defRPr>
            </a:lvl6pPr>
            <a:lvl7pPr>
              <a:defRPr sz="2850" b="1">
                <a:solidFill>
                  <a:srgbClr val="17324F"/>
                </a:solidFill>
                <a:latin typeface="Arial"/>
                <a:ea typeface="Arial"/>
                <a:cs typeface="Arial"/>
              </a:defRPr>
            </a:lvl7pPr>
            <a:lvl8pPr>
              <a:defRPr sz="2850" b="1">
                <a:solidFill>
                  <a:srgbClr val="17324F"/>
                </a:solidFill>
                <a:latin typeface="Arial"/>
                <a:ea typeface="Arial"/>
                <a:cs typeface="Arial"/>
              </a:defRPr>
            </a:lvl8pPr>
            <a:lvl9pPr>
              <a:defRPr sz="2850" b="1">
                <a:solidFill>
                  <a:srgbClr val="17324F"/>
                </a:solidFill>
                <a:latin typeface="Arial"/>
                <a:ea typeface="Arial"/>
                <a:cs typeface="Arial"/>
              </a:defRPr>
            </a:lvl9pPr>
          </a:lstStyle>
          <a:p xmlns:a="http://schemas.openxmlformats.org/drawingml/2006/main">
            <a:pPr>
              <a:defRPr sz="2850" b="1">
                <a:solidFill>
                  <a:srgbClr val="17324F"/>
                </a:solidFill>
                <a:latin typeface="Arial"/>
                <a:ea typeface="Arial"/>
                <a:cs typeface="Arial"/>
              </a:defRPr>
            </a:pPr>
            <a:r>
              <a:rPr sz="2850" b="1">
                <a:solidFill>
                  <a:srgbClr val="17324F"/>
                </a:solidFill>
                <a:latin typeface="Arial"/>
                <a:ea typeface="Arial"/>
                <a:cs typeface="Arial"/>
              </a:rPr>
              <a:t>Demo, limits, and next step</a:t>
            </a:r>
          </a:p>
        </p:txBody>
      </p:sp>
      <p:sp>
        <p:nvSpPr>
          <p:cNvPr id="3" name="">
            <a:extLst xmlns:a="http://schemas.openxmlformats.org/drawingml/2006/main">
              <a:ext uri="{FF2B5EF4-FFF2-40B4-BE49-F238E27FC236}">
                <a16:creationId xmlns:a16="http://schemas.microsoft.com/office/drawing/2014/main" id="{D66F670D-00C4-41BC-9B87-B2BF4E5A0AC7}"/>
              </a:ext>
            </a:extLst>
          </p:cNvPr>
          <p:cNvSpPr>
            <a:spLocks xmlns:a="http://schemas.openxmlformats.org/drawingml/2006/main" noGrp="1"/>
          </p:cNvSpPr>
          <p:nvPr/>
        </p:nvSpPr>
        <p:spPr>
          <a:xfrm xmlns:a="http://schemas.openxmlformats.org/drawingml/2006/main">
            <a:off x="685800" y="64389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B6C78"/>
                </a:solidFill>
                <a:latin typeface="Arial"/>
                <a:ea typeface="Arial"/>
                <a:cs typeface="Arial"/>
              </a:defRPr>
            </a:defPPr>
            <a:lvl1pPr>
              <a:defRPr sz="1050" b="0">
                <a:solidFill>
                  <a:srgbClr val="5B6C78"/>
                </a:solidFill>
                <a:latin typeface="Arial"/>
                <a:ea typeface="Arial"/>
                <a:cs typeface="Arial"/>
              </a:defRPr>
            </a:lvl1pPr>
            <a:lvl2pPr>
              <a:defRPr sz="1050" b="0">
                <a:solidFill>
                  <a:srgbClr val="5B6C78"/>
                </a:solidFill>
                <a:latin typeface="Arial"/>
                <a:ea typeface="Arial"/>
                <a:cs typeface="Arial"/>
              </a:defRPr>
            </a:lvl2pPr>
            <a:lvl3pPr>
              <a:defRPr sz="1050" b="0">
                <a:solidFill>
                  <a:srgbClr val="5B6C78"/>
                </a:solidFill>
                <a:latin typeface="Arial"/>
                <a:ea typeface="Arial"/>
                <a:cs typeface="Arial"/>
              </a:defRPr>
            </a:lvl3pPr>
            <a:lvl4pPr>
              <a:defRPr sz="1050" b="0">
                <a:solidFill>
                  <a:srgbClr val="5B6C78"/>
                </a:solidFill>
                <a:latin typeface="Arial"/>
                <a:ea typeface="Arial"/>
                <a:cs typeface="Arial"/>
              </a:defRPr>
            </a:lvl4pPr>
            <a:lvl5pPr>
              <a:defRPr sz="1050" b="0">
                <a:solidFill>
                  <a:srgbClr val="5B6C78"/>
                </a:solidFill>
                <a:latin typeface="Arial"/>
                <a:ea typeface="Arial"/>
                <a:cs typeface="Arial"/>
              </a:defRPr>
            </a:lvl5pPr>
            <a:lvl6pPr>
              <a:defRPr sz="1050" b="0">
                <a:solidFill>
                  <a:srgbClr val="5B6C78"/>
                </a:solidFill>
                <a:latin typeface="Arial"/>
                <a:ea typeface="Arial"/>
                <a:cs typeface="Arial"/>
              </a:defRPr>
            </a:lvl6pPr>
            <a:lvl7pPr>
              <a:defRPr sz="1050" b="0">
                <a:solidFill>
                  <a:srgbClr val="5B6C78"/>
                </a:solidFill>
                <a:latin typeface="Arial"/>
                <a:ea typeface="Arial"/>
                <a:cs typeface="Arial"/>
              </a:defRPr>
            </a:lvl7pPr>
            <a:lvl8pPr>
              <a:defRPr sz="1050" b="0">
                <a:solidFill>
                  <a:srgbClr val="5B6C78"/>
                </a:solidFill>
                <a:latin typeface="Arial"/>
                <a:ea typeface="Arial"/>
                <a:cs typeface="Arial"/>
              </a:defRPr>
            </a:lvl8pPr>
            <a:lvl9pPr>
              <a:defRPr sz="1050" b="0">
                <a:solidFill>
                  <a:srgbClr val="5B6C78"/>
                </a:solidFill>
                <a:latin typeface="Arial"/>
                <a:ea typeface="Arial"/>
                <a:cs typeface="Arial"/>
              </a:defRPr>
            </a:lvl9pPr>
          </a:lstStyle>
          <a:p xmlns:a="http://schemas.openxmlformats.org/drawingml/2006/main">
            <a:pPr>
              <a:defRPr sz="1050" b="0">
                <a:solidFill>
                  <a:srgbClr val="5B6C78"/>
                </a:solidFill>
                <a:latin typeface="Arial"/>
                <a:ea typeface="Arial"/>
                <a:cs typeface="Arial"/>
              </a:defRPr>
            </a:pPr>
            <a:r>
              <a:rPr sz="1050" b="0">
                <a:solidFill>
                  <a:srgbClr val="5B6C78"/>
                </a:solidFill>
                <a:latin typeface="Arial"/>
                <a:ea typeface="Arial"/>
                <a:cs typeface="Arial"/>
              </a:rPr>
              <a:t>Hospital patient flow  |  10 / 10</a:t>
            </a:r>
          </a:p>
        </p:txBody>
      </p:sp>
      <p:sp>
        <p:nvSpPr>
          <p:cNvPr id="4" name="">
            <a:extLst xmlns:a="http://schemas.openxmlformats.org/drawingml/2006/main">
              <a:ext uri="{FF2B5EF4-FFF2-40B4-BE49-F238E27FC236}">
                <a16:creationId xmlns:a16="http://schemas.microsoft.com/office/drawing/2014/main" id="{20253266-307C-4B8C-99A0-5F7914DA731F}"/>
              </a:ext>
            </a:extLst>
          </p:cNvPr>
          <p:cNvSpPr>
            <a:spLocks xmlns:a="http://schemas.openxmlformats.org/drawingml/2006/main" noGrp="1"/>
          </p:cNvSpPr>
          <p:nvPr/>
        </p:nvSpPr>
        <p:spPr>
          <a:xfrm xmlns:a="http://schemas.openxmlformats.org/drawingml/2006/main">
            <a:off x="685800" y="1952625"/>
            <a:ext cx="9906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5384A"/>
                </a:solidFill>
                <a:latin typeface="Arial"/>
                <a:ea typeface="Arial"/>
                <a:cs typeface="Arial"/>
              </a:defRPr>
            </a:defPPr>
            <a:lvl1pPr>
              <a:defRPr sz="1875" b="0">
                <a:solidFill>
                  <a:srgbClr val="25384A"/>
                </a:solidFill>
                <a:latin typeface="Arial"/>
                <a:ea typeface="Arial"/>
                <a:cs typeface="Arial"/>
              </a:defRPr>
            </a:lvl1pPr>
            <a:lvl2pPr>
              <a:defRPr sz="1875" b="0">
                <a:solidFill>
                  <a:srgbClr val="25384A"/>
                </a:solidFill>
                <a:latin typeface="Arial"/>
                <a:ea typeface="Arial"/>
                <a:cs typeface="Arial"/>
              </a:defRPr>
            </a:lvl2pPr>
            <a:lvl3pPr>
              <a:defRPr sz="1875" b="0">
                <a:solidFill>
                  <a:srgbClr val="25384A"/>
                </a:solidFill>
                <a:latin typeface="Arial"/>
                <a:ea typeface="Arial"/>
                <a:cs typeface="Arial"/>
              </a:defRPr>
            </a:lvl3pPr>
            <a:lvl4pPr>
              <a:defRPr sz="1875" b="0">
                <a:solidFill>
                  <a:srgbClr val="25384A"/>
                </a:solidFill>
                <a:latin typeface="Arial"/>
                <a:ea typeface="Arial"/>
                <a:cs typeface="Arial"/>
              </a:defRPr>
            </a:lvl4pPr>
            <a:lvl5pPr>
              <a:defRPr sz="1875" b="0">
                <a:solidFill>
                  <a:srgbClr val="25384A"/>
                </a:solidFill>
                <a:latin typeface="Arial"/>
                <a:ea typeface="Arial"/>
                <a:cs typeface="Arial"/>
              </a:defRPr>
            </a:lvl5pPr>
            <a:lvl6pPr>
              <a:defRPr sz="1875" b="0">
                <a:solidFill>
                  <a:srgbClr val="25384A"/>
                </a:solidFill>
                <a:latin typeface="Arial"/>
                <a:ea typeface="Arial"/>
                <a:cs typeface="Arial"/>
              </a:defRPr>
            </a:lvl6pPr>
            <a:lvl7pPr>
              <a:defRPr sz="1875" b="0">
                <a:solidFill>
                  <a:srgbClr val="25384A"/>
                </a:solidFill>
                <a:latin typeface="Arial"/>
                <a:ea typeface="Arial"/>
                <a:cs typeface="Arial"/>
              </a:defRPr>
            </a:lvl7pPr>
            <a:lvl8pPr>
              <a:defRPr sz="1875" b="0">
                <a:solidFill>
                  <a:srgbClr val="25384A"/>
                </a:solidFill>
                <a:latin typeface="Arial"/>
                <a:ea typeface="Arial"/>
                <a:cs typeface="Arial"/>
              </a:defRPr>
            </a:lvl8pPr>
            <a:lvl9pPr>
              <a:defRPr sz="1875" b="0">
                <a:solidFill>
                  <a:srgbClr val="25384A"/>
                </a:solidFill>
                <a:latin typeface="Arial"/>
                <a:ea typeface="Arial"/>
                <a:cs typeface="Arial"/>
              </a:defRPr>
            </a:lvl9pPr>
          </a:lstStyle>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Live demo: streamlit run app.py</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Show the 13-question matrix, Erlang-B threshold, and failed ED/ICU validation.</a:t>
            </a:r>
          </a:p>
          <a:p xmlns:a="http://schemas.openxmlformats.org/drawingml/2006/main">
            <a:r>
              <a:t/>
            </a:r>
          </a:p>
          <a:p xmlns:a="http://schemas.openxmlformats.org/drawingml/2006/main">
            <a:pPr>
              <a:defRPr sz="1875" b="0">
                <a:solidFill>
                  <a:srgbClr val="25384A"/>
                </a:solidFill>
                <a:latin typeface="Arial"/>
                <a:ea typeface="Arial"/>
                <a:cs typeface="Arial"/>
              </a:defRPr>
            </a:pPr>
            <a:r>
              <a:rPr sz="1875" b="0">
                <a:solidFill>
                  <a:srgbClr val="25384A"/>
                </a:solidFill>
                <a:latin typeface="Arial"/>
                <a:ea typeface="Arial"/>
                <a:cs typeface="Arial"/>
              </a:rPr>
              <a:t>Next: matched single-facility arrivals, bed requests, transfer times, and abandonment records.</a:t>
            </a:r>
          </a:p>
        </p:txBody>
      </p:sp>
    </p:spTree>
    <p:extLst>
      <p:ext uri="{BB962C8B-B14F-4D97-AF65-F5344CB8AC3E}">
        <p14:creationId xmlns:p14="http://schemas.microsoft.com/office/powerpoint/2010/main" val="158692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2026-10-29T12:24:25.1900000Z</dcterms:created>
  <dcterms:modified xsi:type="dcterms:W3CDTF">2026-10-29T12:24:25.1900000Z</dcterms:modified>
</coreProperties>
</file>